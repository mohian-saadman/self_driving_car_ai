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  <p:embeddedFont>
      <p:font typeface="Comforta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11" Type="http://schemas.openxmlformats.org/officeDocument/2006/relationships/slide" Target="slides/slide6.xml"/><Relationship Id="rId22" Type="http://schemas.openxmlformats.org/officeDocument/2006/relationships/font" Target="fonts/Comfortaa-regular.fntdata"/><Relationship Id="rId10" Type="http://schemas.openxmlformats.org/officeDocument/2006/relationships/slide" Target="slides/slide5.xml"/><Relationship Id="rId21" Type="http://schemas.openxmlformats.org/officeDocument/2006/relationships/font" Target="fonts/Lexen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2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0"/>
            <a:ext cx="12192000" cy="685800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05538" y="687115"/>
            <a:ext cx="738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Self-Driving </a:t>
            </a:r>
            <a:r>
              <a:rPr b="1" i="0" lang="en-US" sz="54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Car Racing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81200" y="1926965"/>
            <a:ext cx="702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0A4AE"/>
                </a:solidFill>
                <a:latin typeface="Urbanist"/>
                <a:ea typeface="Urbanist"/>
                <a:cs typeface="Urbanist"/>
                <a:sym typeface="Urbanist"/>
              </a:rPr>
              <a:t>Autonomous Driving Agent using Deep Q-Learning (DQN)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5525" y="4970575"/>
            <a:ext cx="55746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1F5F9"/>
                </a:solidFill>
                <a:latin typeface="Lexend"/>
                <a:ea typeface="Lexend"/>
                <a:cs typeface="Lexend"/>
                <a:sym typeface="Lexend"/>
              </a:rPr>
              <a:t>Presented By </a:t>
            </a:r>
            <a:r>
              <a:rPr b="1" lang="en-US" sz="1800">
                <a:solidFill>
                  <a:srgbClr val="F1F5F9"/>
                </a:solidFill>
                <a:latin typeface="Lexend"/>
                <a:ea typeface="Lexend"/>
                <a:cs typeface="Lexend"/>
                <a:sym typeface="Lexend"/>
              </a:rPr>
              <a:t>Group 10</a:t>
            </a:r>
            <a:endParaRPr b="1" sz="1800">
              <a:solidFill>
                <a:srgbClr val="F1F5F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1F5F9"/>
                </a:solidFill>
                <a:latin typeface="Lexend"/>
                <a:ea typeface="Lexend"/>
                <a:cs typeface="Lexend"/>
                <a:sym typeface="Lexend"/>
              </a:rPr>
              <a:t>Md. Mohian Hasan Saadman 2527108650</a:t>
            </a:r>
            <a:endParaRPr sz="1800">
              <a:solidFill>
                <a:srgbClr val="F1F5F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1F5F9"/>
                </a:solidFill>
                <a:latin typeface="Lexend"/>
                <a:ea typeface="Lexend"/>
                <a:cs typeface="Lexend"/>
                <a:sym typeface="Lexend"/>
              </a:rPr>
              <a:t>Mohammad Ismum 2212185642</a:t>
            </a:r>
            <a:endParaRPr sz="1800">
              <a:solidFill>
                <a:srgbClr val="F1F5F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1F5F9"/>
                </a:solidFill>
                <a:latin typeface="Lexend"/>
                <a:ea typeface="Lexend"/>
                <a:cs typeface="Lexend"/>
                <a:sym typeface="Lexend"/>
              </a:rPr>
              <a:t>Md. Ragib Hasan 2012954642</a:t>
            </a:r>
            <a:endParaRPr sz="1800">
              <a:solidFill>
                <a:srgbClr val="F1F5F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19738" y="1703654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4825"/>
            <a:ext cx="5238750" cy="328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000" y="2104825"/>
            <a:ext cx="5238750" cy="3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50950" y="2381262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Objective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000387"/>
            <a:ext cx="4457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To develop an autonomous agent capable of navigating a complex race track without human intervention, maximizing speed while avoiding collisions.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61200" y="2381250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Project Scope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4094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4098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924675" y="30003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62775" y="30003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Custom Engine: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Built a 2D physics engine from scratch using Pygame.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24675" y="37528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62775" y="37528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AI Core: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Implemented a Deep Q-Network (DQN) with experience replay.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924675" y="45053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62775" y="45053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Pipeline: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Created a robust training, testing, and evaluation pipeline.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333875" y="571500"/>
            <a:ext cx="370046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Overview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904875"/>
            <a:ext cx="4800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Physics &amp; Perception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1838325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Kinematics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249555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The car simulates realistic driving physics including acceleration, friction, and angular velocity. It isn't just moving a sprite; it drifts and requires braking.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3886200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Ray-Cast Sensors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4543425"/>
            <a:ext cx="457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The agent "sees" using 5 ray-cast sensors </a:t>
            </a:r>
            <a:r>
              <a:rPr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at angle (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-60°</a:t>
            </a:r>
            <a:r>
              <a:rPr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, -3</a:t>
            </a:r>
            <a:r>
              <a:rPr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0°, 0°, 30°, 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60°). These measure the distance to the track walls, forming the primary input for the neural network.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5" name="Google Shape;125;p15" title="c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443025" y="1969775"/>
            <a:ext cx="3383400" cy="291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8255"/>
            <a:ext cx="3492549" cy="4274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58255"/>
            <a:ext cx="3492549" cy="4274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58255"/>
            <a:ext cx="3492549" cy="4274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0535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527601" y="3006030"/>
            <a:ext cx="15801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State Space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12800" y="3682163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Input vector of size 8: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0535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245893" y="3006030"/>
            <a:ext cx="17002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Action Space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108619" y="3682163"/>
            <a:ext cx="197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en-US" sz="135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 Discrete Actions: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0535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814167" y="3006030"/>
            <a:ext cx="21202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Reward Function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60525" y="220593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174700" y="424234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12800" y="4242345"/>
            <a:ext cx="2400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5 Sensor Readings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74700" y="469002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212800" y="4690020"/>
            <a:ext cx="2400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Normalized Speed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74700" y="513769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212800" y="5137700"/>
            <a:ext cx="285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Angle (Sin/Cos components)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220593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082389" y="4242350"/>
            <a:ext cx="16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272073" y="4242350"/>
            <a:ext cx="217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Idle, Accelerate, Brake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108542" y="4690025"/>
            <a:ext cx="16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281598" y="4690013"/>
            <a:ext cx="209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Turn Left/Right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17124" y="220593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8597949" y="36251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636049" y="3625155"/>
            <a:ext cx="266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r>
              <a:rPr b="1"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0: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Passing Checkpoints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597949" y="407283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636050" y="4072825"/>
            <a:ext cx="298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+Speed: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Proportional to velocity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597949" y="45205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636049" y="452050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-100: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Collision (Terminal)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597949" y="496818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636049" y="496818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-Penalty: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Driving off-center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2867025" y="571500"/>
            <a:ext cx="67808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Markov Decision Process (MDP)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205263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Network Structure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25669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A fully connected Feed-Forward Neural Network consisting of: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23900" y="30622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62000" y="306228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Input Layer: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Neurons (State)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23900" y="35099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62000" y="3509962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Hidden Layers: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3 Layers x 128 Neurons with ReLU activation. Deep enough to capture </a:t>
            </a:r>
            <a:r>
              <a:rPr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nonlinear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driving dynamics.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23900" y="42624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62000" y="4262437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Output Layer: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5 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Neurons (Q-Values for each action).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3629025" y="571500"/>
            <a:ext cx="51806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Deep Q-Network (DQN)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14537"/>
            <a:ext cx="5219699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79200"/>
            <a:ext cx="2571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1138" y="1879200"/>
            <a:ext cx="2571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5538" y="1879200"/>
            <a:ext cx="2571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25" y="1908850"/>
            <a:ext cx="25717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/>
          <p:nvPr/>
        </p:nvSpPr>
        <p:spPr>
          <a:xfrm>
            <a:off x="642213" y="1552925"/>
            <a:ext cx="11049000" cy="381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838325" y="14576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ABC9C"/>
          </a:solidFill>
          <a:ln cap="flat" cmpd="sng" w="38100">
            <a:solidFill>
              <a:srgbClr val="0C1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52475" y="2051725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Action Selection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09625" y="2528950"/>
            <a:ext cx="228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Epsilon-Greedy strategy: Explore random moves initially, exploit model later.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3454013" y="2020000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Experience Replay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500425" y="2492700"/>
            <a:ext cx="2286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Store (State, Action, Reward, Next State) tuples in a buffer to break correlation.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219825" y="2020000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Optimization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298413" y="2528950"/>
            <a:ext cx="2286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Sample a batch and minimize MSE Loss between Current Q and Target Q.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067800" y="2019625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Target Update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096425" y="2528950"/>
            <a:ext cx="2286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Periodically update the stable Target Network weights from the Policy Net.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4681537" y="571500"/>
            <a:ext cx="297037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Training Loop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572000" y="14576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ABC9C"/>
          </a:solidFill>
          <a:ln cap="flat" cmpd="sng" w="38100">
            <a:solidFill>
              <a:srgbClr val="0C1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305675" y="14576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ABC9C"/>
          </a:solidFill>
          <a:ln cap="flat" cmpd="sng" w="38100">
            <a:solidFill>
              <a:srgbClr val="0C1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10125075" y="14576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ABC9C"/>
          </a:solidFill>
          <a:ln cap="flat" cmpd="sng" w="38100">
            <a:solidFill>
              <a:srgbClr val="0C1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526125" y="4188500"/>
            <a:ext cx="285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Training Algorithm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18925" y="4696400"/>
            <a:ext cx="6092100" cy="14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8" title="blog-training-deep-q-networks-1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7824" y="4638322"/>
            <a:ext cx="5054283" cy="15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52387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857250" y="2657475"/>
            <a:ext cx="49006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Operational Modes</a:t>
            </a:r>
            <a:endParaRPr/>
          </a:p>
        </p:txBody>
      </p:sp>
      <p:pic>
        <p:nvPicPr>
          <p:cNvPr descr="image.png" id="222" name="Google Shape;2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6860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1009650" y="31718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047750" y="317182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Manual Mode: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Human control to test physics validity.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009650" y="36195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047750" y="36195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Train Mode: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Real-time visualization of the AI learning process with live metrics.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09650" y="4371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47750" y="43719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Race Mode: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Evaluate multiple saved models against each other to benchmark performance.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4005262" y="571500"/>
            <a:ext cx="439054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Features &amp; Interface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33" name="Google Shape;233;p19" title="men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0" y="1623771"/>
            <a:ext cx="5238900" cy="39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571500" y="571500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0A4AE"/>
                </a:solidFill>
                <a:latin typeface="Urbanist"/>
                <a:ea typeface="Urbanist"/>
                <a:cs typeface="Urbanist"/>
                <a:sym typeface="Urbanist"/>
              </a:rPr>
              <a:t>The agent demonstrates a clear learning curve, achieving consistent lap completions after ~</a:t>
            </a:r>
            <a:r>
              <a:rPr i="1" lang="en-US" sz="1500">
                <a:solidFill>
                  <a:srgbClr val="90A4AE"/>
                </a:solidFill>
                <a:latin typeface="Urbanist"/>
                <a:ea typeface="Urbanist"/>
                <a:cs typeface="Urbanist"/>
                <a:sym typeface="Urbanist"/>
              </a:rPr>
              <a:t>300</a:t>
            </a:r>
            <a:r>
              <a:rPr b="0" i="1" lang="en-US" sz="1500" u="none" cap="none" strike="noStrike">
                <a:solidFill>
                  <a:srgbClr val="90A4AE"/>
                </a:solidFill>
                <a:latin typeface="Urbanist"/>
                <a:ea typeface="Urbanist"/>
                <a:cs typeface="Urbanist"/>
                <a:sym typeface="Urbanist"/>
              </a:rPr>
              <a:t> episodes.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857625" y="571500"/>
            <a:ext cx="47005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Training Performance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44" name="Google Shape;244;p20" title="training_progre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400" y="1222575"/>
            <a:ext cx="7323000" cy="43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238750" cy="436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04950"/>
            <a:ext cx="5238750" cy="4367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962025" y="2366962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74C3C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62025" y="30241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Reward Shaping: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Initial penalties for crashing were too lenient, causing the car to spin in circles to maximize survival time.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962025" y="43195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Hyperparameter Tuning: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Finding the right balance for Epsilon Decay and Learning Rate was critical for convergence.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794388" y="2395537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BC9C"/>
                </a:solidFill>
                <a:latin typeface="Urbanist"/>
                <a:ea typeface="Urbanist"/>
                <a:cs typeface="Urbanist"/>
                <a:sym typeface="Urbanist"/>
              </a:rPr>
              <a:t>Future Work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772275" y="3024187"/>
            <a:ext cx="445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Complex Tracks: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Procedurally generating S-curves and sharp turns to test generalization.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794400" y="3930037"/>
            <a:ext cx="4457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Algorithm Upgrade:</a:t>
            </a:r>
            <a:r>
              <a:rPr b="0" i="0" lang="en-US" sz="1500" u="none" cap="none" strike="noStrike">
                <a:solidFill>
                  <a:srgbClr val="CFD8DC"/>
                </a:solidFill>
                <a:latin typeface="Urbanist"/>
                <a:ea typeface="Urbanist"/>
                <a:cs typeface="Urbanist"/>
                <a:sym typeface="Urbanist"/>
              </a:rPr>
              <a:t> Implementing Proximal Policy Optimization (PPO) for smoother, continuous action control.</a:t>
            </a:r>
            <a:endParaRPr/>
          </a:p>
        </p:txBody>
      </p:sp>
      <p:pic>
        <p:nvPicPr>
          <p:cNvPr descr="image.png" id="258" name="Google Shape;25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3955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39553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3448050" y="571500"/>
            <a:ext cx="556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</a:t>
            </a:r>
            <a:r>
              <a:rPr b="1" lang="en-US" sz="36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hallenges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&amp; Future Steps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3594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295275" y="2851844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571500" y="445204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0A4AE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0" y="6354025"/>
            <a:ext cx="12192000" cy="5037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0" y="6333774"/>
            <a:ext cx="6092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GROUP 10  </a:t>
            </a:r>
            <a:endParaRPr b="1" sz="3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077400" y="6256450"/>
            <a:ext cx="6114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Mohian Hasan Saadman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Mohammad Ishmum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Md. Ragib Hasan</a:t>
            </a:r>
            <a:endParaRPr b="1" sz="1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